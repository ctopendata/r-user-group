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88" r:id="rId5"/>
  </p:sldMasterIdLst>
  <p:notesMasterIdLst>
    <p:notesMasterId r:id="rId10"/>
  </p:notesMasterIdLst>
  <p:sldIdLst>
    <p:sldId id="297" r:id="rId6"/>
    <p:sldId id="308" r:id="rId7"/>
    <p:sldId id="309" r:id="rId8"/>
    <p:sldId id="31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C2D102-33A4-433A-71EA-EAEF3BAD2340}" name="Mosimann, Susan" initials="MS" userId="S::Susan.Mosimann@ct.gov::4aa915e6-be67-4d92-bb0a-bc0a6d3a1d18" providerId="AD"/>
  <p188:author id="{7D68EF1E-612E-6BD2-E29D-EB2A33D3D38E}" name="Norfleet-Johnson, Cassandra L." initials="NJCL" userId="S::Cassandra.Norfleet-Johnson@ct.gov::84188399-1d89-4bdd-8c85-5740cc7ca299" providerId="AD"/>
  <p188:author id="{2517662B-D41B-EBB7-DC5B-94A2F7A43A31}" name="Pisani, Linette" initials="PL" userId="S::Linette.Pisani@ct.gov::4766c781-bd93-4a65-a4d9-8a0829f0e470" providerId="AD"/>
  <p188:author id="{0AE5CF34-733E-5CE5-528E-D8619B59B7D0}" name="Giacomi, Daniel R." initials="GDR" userId="S::Daniel.Giacomi@ct.gov::c5c5a813-5dd0-46fe-80f4-43f714e60b41" providerId="AD"/>
  <p188:author id="{20F7F953-B8B0-4122-23B6-D39072D7E257}" name="Norfleet-Johnson, Cassandra L." initials="NL" userId="S::cassandra.norfleet-johnson@ct.gov::84188399-1d89-4bdd-8c85-5740cc7ca299" providerId="AD"/>
  <p188:author id="{8C6EB37F-8BC1-0D02-20DA-232FB51E7B77}" name="Pisani, Linette" initials="PL" userId="S::linette.pisani@ct.gov::4766c781-bd93-4a65-a4d9-8a0829f0e470" providerId="AD"/>
  <p188:author id="{BB1A80A0-9C0A-560D-D2CD-E99703CDF6A6}" name="Thomas, Elizabeth P." initials="TEP" userId="S::Elizabeth.Thomas@ct.gov::ab7770e1-64a2-4edc-8935-d662500e8e63" providerId="AD"/>
  <p188:author id="{E1AC67B6-34F4-3D98-F4E4-3D22146E4D48}" name="Hadler, Peter B." initials="HPB" userId="S::Peter.Hadler@ct.gov::c453469d-c7d1-4343-a6f8-31b1e860a616" providerId="AD"/>
  <p188:author id="{737193C9-9E49-8AE7-79D1-49FD50E5882E}" name="Cappuccitti, Maria" initials="CM" userId="S::maria.cappuccitti@ct.gov::8aba9dc2-2417-4ccc-b113-867e6c6159e5" providerId="AD"/>
  <p188:author id="{34D27BD9-7733-9B53-8325-CA9503CD4C25}" name="Gualtieri, Claudio" initials="CG" userId="S::Claudio.Gualtieri@ct.gov::b708b4ec-517b-44e3-a35c-c72b77dd14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0D0C0C"/>
    <a:srgbClr val="011F42"/>
    <a:srgbClr val="011638"/>
    <a:srgbClr val="130536"/>
    <a:srgbClr val="0066FF"/>
    <a:srgbClr val="00466C"/>
    <a:srgbClr val="004A70"/>
    <a:srgbClr val="290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110" y="30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15196D-BBF9-4129-AEAE-D1ACE2B3541D}"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35C6E0-6CE1-450F-B0D1-2A2EC0E81C56}" type="slidenum">
              <a:rPr lang="en-US" smtClean="0"/>
              <a:t>‹#›</a:t>
            </a:fld>
            <a:endParaRPr lang="en-US"/>
          </a:p>
        </p:txBody>
      </p:sp>
    </p:spTree>
    <p:extLst>
      <p:ext uri="{BB962C8B-B14F-4D97-AF65-F5344CB8AC3E}">
        <p14:creationId xmlns:p14="http://schemas.microsoft.com/office/powerpoint/2010/main" val="409597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35C6E0-6CE1-450F-B0D1-2A2EC0E81C56}"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120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jpeg"/><Relationship Id="rId4"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2460445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1221448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328472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645232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176191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7A2E87-A46C-934D-BF14-0D8197FA24AF}" type="datetimeFigureOut">
              <a:rPr lang="en-US" smtClean="0"/>
              <a:t>4/14/2026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151476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17A2E87-A46C-934D-BF14-0D8197FA24AF}" type="datetimeFigureOut">
              <a:rPr lang="en-US" smtClean="0"/>
              <a:t>4/14/2026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72402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7A2E87-A46C-934D-BF14-0D8197FA24AF}" type="datetimeFigureOut">
              <a:rPr lang="en-US" smtClean="0"/>
              <a:t>4/14/2026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4211032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7A2E87-A46C-934D-BF14-0D8197FA24AF}" type="datetimeFigureOut">
              <a:rPr lang="en-US" smtClean="0"/>
              <a:t>4/14/2026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1168276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7A2E87-A46C-934D-BF14-0D8197FA24AF}" type="datetimeFigureOut">
              <a:rPr lang="en-US" smtClean="0"/>
              <a:t>4/14/2026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513674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7A2E87-A46C-934D-BF14-0D8197FA24AF}" type="datetimeFigureOut">
              <a:rPr lang="en-US" smtClean="0"/>
              <a:t>4/14/2026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1398590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4190794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7A2E87-A46C-934D-BF14-0D8197FA24AF}" type="datetimeFigureOut">
              <a:rPr lang="en-US" smtClean="0"/>
              <a:t>4/14/2026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44D0795-8C29-784B-90CE-685C545E8C55}" type="slidenum">
              <a:rPr lang="en-US" smtClean="0"/>
              <a:t>‹#›</a:t>
            </a:fld>
            <a:endParaRPr lang="en-US"/>
          </a:p>
        </p:txBody>
      </p:sp>
    </p:spTree>
    <p:extLst>
      <p:ext uri="{BB962C8B-B14F-4D97-AF65-F5344CB8AC3E}">
        <p14:creationId xmlns:p14="http://schemas.microsoft.com/office/powerpoint/2010/main" val="2696889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72706B9-38B8-4195-9B82-4797676D40AF}" type="datetime4">
              <a:rPr lang="en-US" smtClean="0"/>
              <a:t>April 14,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6" name="Slide Number Placeholder 5"/>
          <p:cNvSpPr>
            <a:spLocks noGrp="1"/>
          </p:cNvSpPr>
          <p:nvPr>
            <p:ph type="sldNum" sz="quarter" idx="12"/>
          </p:nvPr>
        </p:nvSpPr>
        <p:spPr/>
        <p:txBody>
          <a:bodyPr/>
          <a:lstStyle>
            <a:lvl1pPr>
              <a:defRPr/>
            </a:lvl1pPr>
          </a:lstStyle>
          <a:p>
            <a:pPr>
              <a:defRPr/>
            </a:pPr>
            <a:fld id="{8E0910F7-5D48-4D29-89D1-83725AECF732}" type="slidenum">
              <a:rPr lang="en-US"/>
              <a:pPr>
                <a:defRPr/>
              </a:pPr>
              <a:t>‹#›</a:t>
            </a:fld>
            <a:endParaRPr lang="en-US"/>
          </a:p>
        </p:txBody>
      </p:sp>
    </p:spTree>
    <p:extLst>
      <p:ext uri="{BB962C8B-B14F-4D97-AF65-F5344CB8AC3E}">
        <p14:creationId xmlns:p14="http://schemas.microsoft.com/office/powerpoint/2010/main" val="1947105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44639"/>
            <a:ext cx="10363200" cy="1362075"/>
          </a:xfrm>
          <a:solidFill>
            <a:schemeClr val="accent1">
              <a:lumMod val="20000"/>
              <a:lumOff val="80000"/>
            </a:schemeClr>
          </a:solidFill>
        </p:spPr>
        <p:txBody>
          <a:bodyPr anchor="t"/>
          <a:lstStyle>
            <a:lvl1pPr algn="l">
              <a:defRPr sz="4000" b="1" u="none" cap="none">
                <a:solidFill>
                  <a:srgbClr val="2906A2"/>
                </a:solidFill>
                <a:effectLst/>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A13CE32-F88A-4942-BE29-2ECB139BEDEE}" type="datetime4">
              <a:rPr lang="en-US" smtClean="0"/>
              <a:t>April 14,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6" name="Slide Number Placeholder 5"/>
          <p:cNvSpPr>
            <a:spLocks noGrp="1"/>
          </p:cNvSpPr>
          <p:nvPr>
            <p:ph type="sldNum" sz="quarter" idx="12"/>
          </p:nvPr>
        </p:nvSpPr>
        <p:spPr/>
        <p:txBody>
          <a:bodyPr/>
          <a:lstStyle>
            <a:lvl1pPr>
              <a:defRPr/>
            </a:lvl1pPr>
          </a:lstStyle>
          <a:p>
            <a:pPr>
              <a:defRPr/>
            </a:pPr>
            <a:fld id="{120F9A6D-C033-4D6D-9AA8-89024EE4BA4D}" type="slidenum">
              <a:rPr lang="en-US"/>
              <a:pPr>
                <a:defRPr/>
              </a:pPr>
              <a:t>‹#›</a:t>
            </a:fld>
            <a:endParaRPr lang="en-US"/>
          </a:p>
        </p:txBody>
      </p:sp>
    </p:spTree>
    <p:extLst>
      <p:ext uri="{BB962C8B-B14F-4D97-AF65-F5344CB8AC3E}">
        <p14:creationId xmlns:p14="http://schemas.microsoft.com/office/powerpoint/2010/main" val="3542801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2DFA462-5E2A-41D9-A7D3-F419570EED5A}" type="datetime4">
              <a:rPr lang="en-US" smtClean="0"/>
              <a:t>April 14, 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7" name="Slide Number Placeholder 5"/>
          <p:cNvSpPr>
            <a:spLocks noGrp="1"/>
          </p:cNvSpPr>
          <p:nvPr>
            <p:ph type="sldNum" sz="quarter" idx="12"/>
          </p:nvPr>
        </p:nvSpPr>
        <p:spPr/>
        <p:txBody>
          <a:bodyPr/>
          <a:lstStyle>
            <a:lvl1pPr>
              <a:defRPr/>
            </a:lvl1pPr>
          </a:lstStyle>
          <a:p>
            <a:pPr>
              <a:defRPr/>
            </a:pPr>
            <a:fld id="{382B61B4-6BB9-47A6-B93C-99ACD9D56F89}" type="slidenum">
              <a:rPr lang="en-US"/>
              <a:pPr>
                <a:defRPr/>
              </a:pPr>
              <a:t>‹#›</a:t>
            </a:fld>
            <a:endParaRPr lang="en-US"/>
          </a:p>
        </p:txBody>
      </p:sp>
    </p:spTree>
    <p:extLst>
      <p:ext uri="{BB962C8B-B14F-4D97-AF65-F5344CB8AC3E}">
        <p14:creationId xmlns:p14="http://schemas.microsoft.com/office/powerpoint/2010/main" val="2333267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0F683316-9D96-4A8F-9282-FAB67CD83E8D}" type="datetime4">
              <a:rPr lang="en-US" smtClean="0"/>
              <a:t>April 14, 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9" name="Slide Number Placeholder 5"/>
          <p:cNvSpPr>
            <a:spLocks noGrp="1"/>
          </p:cNvSpPr>
          <p:nvPr>
            <p:ph type="sldNum" sz="quarter" idx="12"/>
          </p:nvPr>
        </p:nvSpPr>
        <p:spPr/>
        <p:txBody>
          <a:bodyPr/>
          <a:lstStyle>
            <a:lvl1pPr>
              <a:defRPr/>
            </a:lvl1pPr>
          </a:lstStyle>
          <a:p>
            <a:pPr>
              <a:defRPr/>
            </a:pPr>
            <a:fld id="{73517445-A01B-4834-84D5-6A6757894F5E}" type="slidenum">
              <a:rPr lang="en-US"/>
              <a:pPr>
                <a:defRPr/>
              </a:pPr>
              <a:t>‹#›</a:t>
            </a:fld>
            <a:endParaRPr lang="en-US"/>
          </a:p>
        </p:txBody>
      </p:sp>
    </p:spTree>
    <p:extLst>
      <p:ext uri="{BB962C8B-B14F-4D97-AF65-F5344CB8AC3E}">
        <p14:creationId xmlns:p14="http://schemas.microsoft.com/office/powerpoint/2010/main" val="39832259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70EB560-F028-4CC0-BA01-B877206CE1AE}" type="datetime4">
              <a:rPr lang="en-US" smtClean="0"/>
              <a:t>April 14, 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5" name="Slide Number Placeholder 5"/>
          <p:cNvSpPr>
            <a:spLocks noGrp="1"/>
          </p:cNvSpPr>
          <p:nvPr>
            <p:ph type="sldNum" sz="quarter" idx="12"/>
          </p:nvPr>
        </p:nvSpPr>
        <p:spPr/>
        <p:txBody>
          <a:bodyPr/>
          <a:lstStyle>
            <a:lvl1pPr>
              <a:defRPr/>
            </a:lvl1pPr>
          </a:lstStyle>
          <a:p>
            <a:pPr>
              <a:defRPr/>
            </a:pPr>
            <a:fld id="{B77E40C9-912E-40AE-8E8F-5BBEFA612765}" type="slidenum">
              <a:rPr lang="en-US"/>
              <a:pPr>
                <a:defRPr/>
              </a:pPr>
              <a:t>‹#›</a:t>
            </a:fld>
            <a:endParaRPr lang="en-US"/>
          </a:p>
        </p:txBody>
      </p:sp>
    </p:spTree>
    <p:extLst>
      <p:ext uri="{BB962C8B-B14F-4D97-AF65-F5344CB8AC3E}">
        <p14:creationId xmlns:p14="http://schemas.microsoft.com/office/powerpoint/2010/main" val="2213956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866692"/>
            <a:ext cx="4011084" cy="568408"/>
          </a:xfrm>
        </p:spPr>
        <p:txBody>
          <a:bodyPr anchor="b"/>
          <a:lstStyle>
            <a:lvl1pPr algn="l">
              <a:defRPr sz="2000" b="1">
                <a:solidFill>
                  <a:schemeClr val="bg1"/>
                </a:solidFill>
              </a:defRPr>
            </a:lvl1pPr>
          </a:lstStyle>
          <a:p>
            <a:r>
              <a:rPr lang="en-US"/>
              <a:t>Click to edit Master title style</a:t>
            </a:r>
          </a:p>
        </p:txBody>
      </p:sp>
      <p:sp>
        <p:nvSpPr>
          <p:cNvPr id="3" name="Content Placeholder 2"/>
          <p:cNvSpPr>
            <a:spLocks noGrp="1"/>
          </p:cNvSpPr>
          <p:nvPr>
            <p:ph idx="1"/>
          </p:nvPr>
        </p:nvSpPr>
        <p:spPr>
          <a:xfrm>
            <a:off x="4766733" y="922351"/>
            <a:ext cx="6815667" cy="52038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F5CB12A-8B26-46FD-AB5A-6FEB7A9743D7}" type="datetime4">
              <a:rPr lang="en-US" smtClean="0"/>
              <a:t>April 14, 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7" name="Slide Number Placeholder 5"/>
          <p:cNvSpPr>
            <a:spLocks noGrp="1"/>
          </p:cNvSpPr>
          <p:nvPr>
            <p:ph type="sldNum" sz="quarter" idx="12"/>
          </p:nvPr>
        </p:nvSpPr>
        <p:spPr/>
        <p:txBody>
          <a:bodyPr/>
          <a:lstStyle>
            <a:lvl1pPr>
              <a:defRPr/>
            </a:lvl1pPr>
          </a:lstStyle>
          <a:p>
            <a:pPr>
              <a:defRPr/>
            </a:pPr>
            <a:fld id="{34F3143F-4BD4-4B07-9F39-382813E35AF1}" type="slidenum">
              <a:rPr lang="en-US"/>
              <a:pPr>
                <a:defRPr/>
              </a:pPr>
              <a:t>‹#›</a:t>
            </a:fld>
            <a:endParaRPr lang="en-US"/>
          </a:p>
        </p:txBody>
      </p:sp>
    </p:spTree>
    <p:extLst>
      <p:ext uri="{BB962C8B-B14F-4D97-AF65-F5344CB8AC3E}">
        <p14:creationId xmlns:p14="http://schemas.microsoft.com/office/powerpoint/2010/main" val="2522113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bg1"/>
                </a:solidFill>
              </a:defRPr>
            </a:lvl1pPr>
          </a:lstStyle>
          <a:p>
            <a:r>
              <a:rPr lang="en-US"/>
              <a:t>Click to edit Master title style</a:t>
            </a:r>
          </a:p>
        </p:txBody>
      </p:sp>
      <p:sp>
        <p:nvSpPr>
          <p:cNvPr id="3" name="Picture Placeholder 2"/>
          <p:cNvSpPr>
            <a:spLocks noGrp="1"/>
          </p:cNvSpPr>
          <p:nvPr>
            <p:ph type="pic" idx="1"/>
          </p:nvPr>
        </p:nvSpPr>
        <p:spPr>
          <a:xfrm>
            <a:off x="2389717" y="962107"/>
            <a:ext cx="7315200" cy="3765467"/>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784AC4B-A041-4946-8056-1B491797EDC4}" type="datetime4">
              <a:rPr lang="en-US" smtClean="0"/>
              <a:t>April 14, 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7" name="Slide Number Placeholder 5"/>
          <p:cNvSpPr>
            <a:spLocks noGrp="1"/>
          </p:cNvSpPr>
          <p:nvPr>
            <p:ph type="sldNum" sz="quarter" idx="12"/>
          </p:nvPr>
        </p:nvSpPr>
        <p:spPr/>
        <p:txBody>
          <a:bodyPr/>
          <a:lstStyle>
            <a:lvl1pPr>
              <a:defRPr/>
            </a:lvl1pPr>
          </a:lstStyle>
          <a:p>
            <a:pPr>
              <a:defRPr/>
            </a:pPr>
            <a:fld id="{40A5E6D9-857F-4A68-8641-FFCB332747BC}" type="slidenum">
              <a:rPr lang="en-US"/>
              <a:pPr>
                <a:defRPr/>
              </a:pPr>
              <a:t>‹#›</a:t>
            </a:fld>
            <a:endParaRPr lang="en-US"/>
          </a:p>
        </p:txBody>
      </p:sp>
    </p:spTree>
    <p:extLst>
      <p:ext uri="{BB962C8B-B14F-4D97-AF65-F5344CB8AC3E}">
        <p14:creationId xmlns:p14="http://schemas.microsoft.com/office/powerpoint/2010/main" val="717509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D82C4B7-FD11-476B-8429-5AC1E7E49ED3}" type="datetime4">
              <a:rPr lang="en-US" smtClean="0"/>
              <a:t>April 14,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6" name="Slide Number Placeholder 5"/>
          <p:cNvSpPr>
            <a:spLocks noGrp="1"/>
          </p:cNvSpPr>
          <p:nvPr>
            <p:ph type="sldNum" sz="quarter" idx="12"/>
          </p:nvPr>
        </p:nvSpPr>
        <p:spPr/>
        <p:txBody>
          <a:bodyPr/>
          <a:lstStyle>
            <a:lvl1pPr>
              <a:defRPr/>
            </a:lvl1pPr>
          </a:lstStyle>
          <a:p>
            <a:pPr>
              <a:defRPr/>
            </a:pPr>
            <a:fld id="{6D5A4297-53E4-41EB-B544-90BB684DE89D}" type="slidenum">
              <a:rPr lang="en-US"/>
              <a:pPr>
                <a:defRPr/>
              </a:pPr>
              <a:t>‹#›</a:t>
            </a:fld>
            <a:endParaRPr lang="en-US"/>
          </a:p>
        </p:txBody>
      </p:sp>
    </p:spTree>
    <p:extLst>
      <p:ext uri="{BB962C8B-B14F-4D97-AF65-F5344CB8AC3E}">
        <p14:creationId xmlns:p14="http://schemas.microsoft.com/office/powerpoint/2010/main" val="187883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54157"/>
            <a:ext cx="2743200" cy="5172007"/>
          </a:xfrm>
        </p:spPr>
        <p:txBody>
          <a:bodyPr vert="eaVert"/>
          <a:lstStyle>
            <a:lvl1pPr>
              <a:defRPr>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a:xfrm>
            <a:off x="609600" y="954157"/>
            <a:ext cx="8026400" cy="51720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482142D-E004-4591-AF53-536A441757D5}" type="datetime4">
              <a:rPr lang="en-US" smtClean="0"/>
              <a:t>April 14,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Department of Social Services</a:t>
            </a:r>
          </a:p>
        </p:txBody>
      </p:sp>
      <p:sp>
        <p:nvSpPr>
          <p:cNvPr id="6" name="Slide Number Placeholder 5"/>
          <p:cNvSpPr>
            <a:spLocks noGrp="1"/>
          </p:cNvSpPr>
          <p:nvPr>
            <p:ph type="sldNum" sz="quarter" idx="12"/>
          </p:nvPr>
        </p:nvSpPr>
        <p:spPr/>
        <p:txBody>
          <a:bodyPr/>
          <a:lstStyle>
            <a:lvl1pPr>
              <a:defRPr/>
            </a:lvl1pPr>
          </a:lstStyle>
          <a:p>
            <a:pPr>
              <a:defRPr/>
            </a:pPr>
            <a:fld id="{8D91D655-7119-457D-A34B-11276AAE675F}" type="slidenum">
              <a:rPr lang="en-US"/>
              <a:pPr>
                <a:defRPr/>
              </a:pPr>
              <a:t>‹#›</a:t>
            </a:fld>
            <a:endParaRPr lang="en-US"/>
          </a:p>
        </p:txBody>
      </p:sp>
    </p:spTree>
    <p:extLst>
      <p:ext uri="{BB962C8B-B14F-4D97-AF65-F5344CB8AC3E}">
        <p14:creationId xmlns:p14="http://schemas.microsoft.com/office/powerpoint/2010/main" val="40375127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55106" y="2130426"/>
            <a:ext cx="7615825" cy="800665"/>
          </a:xfrm>
          <a:noFill/>
        </p:spPr>
        <p:txBody>
          <a:bodyPr anchor="t"/>
          <a:lstStyle>
            <a:lvl1pPr algn="ctr">
              <a:defRPr sz="4800" b="0">
                <a:solidFill>
                  <a:srgbClr val="2906A2"/>
                </a:solidFill>
                <a:effectLst/>
                <a:latin typeface="+mj-lt"/>
              </a:defRPr>
            </a:lvl1pPr>
          </a:lstStyle>
          <a:p>
            <a:r>
              <a:rPr lang="en-US"/>
              <a:t>Click to edit Master title style</a:t>
            </a:r>
          </a:p>
        </p:txBody>
      </p:sp>
      <p:sp>
        <p:nvSpPr>
          <p:cNvPr id="7" name="Slide Number Placeholder 5"/>
          <p:cNvSpPr>
            <a:spLocks noGrp="1"/>
          </p:cNvSpPr>
          <p:nvPr>
            <p:ph type="sldNum" sz="quarter" idx="12"/>
          </p:nvPr>
        </p:nvSpPr>
        <p:spPr>
          <a:xfrm>
            <a:off x="8737600" y="6475619"/>
            <a:ext cx="2844800" cy="365125"/>
          </a:xfrm>
        </p:spPr>
        <p:txBody>
          <a:bodyPr/>
          <a:lstStyle>
            <a:lvl1pPr>
              <a:defRPr>
                <a:latin typeface="+mj-lt"/>
              </a:defRPr>
            </a:lvl1pPr>
          </a:lstStyle>
          <a:p>
            <a:pPr>
              <a:defRPr/>
            </a:pPr>
            <a:fld id="{2D43976D-FE59-46FF-B0CA-10F23A3434E0}" type="slidenum">
              <a:rPr lang="en-US" smtClean="0"/>
              <a:pPr>
                <a:defRPr/>
              </a:pPr>
              <a:t>‹#›</a:t>
            </a:fld>
            <a:endParaRPr lang="en-US"/>
          </a:p>
        </p:txBody>
      </p:sp>
    </p:spTree>
    <p:extLst>
      <p:ext uri="{BB962C8B-B14F-4D97-AF65-F5344CB8AC3E}">
        <p14:creationId xmlns:p14="http://schemas.microsoft.com/office/powerpoint/2010/main" val="194560823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10" name="Rectangle 9"/>
          <p:cNvSpPr/>
          <p:nvPr userDrawn="1"/>
        </p:nvSpPr>
        <p:spPr>
          <a:xfrm>
            <a:off x="0" y="1039660"/>
            <a:ext cx="12192000" cy="5840702"/>
          </a:xfrm>
          <a:prstGeom prst="rect">
            <a:avLst/>
          </a:prstGeom>
          <a:solidFill>
            <a:srgbClr val="01163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4" name="Rectangle 3"/>
          <p:cNvSpPr/>
          <p:nvPr userDrawn="1"/>
        </p:nvSpPr>
        <p:spPr>
          <a:xfrm>
            <a:off x="0" y="-100208"/>
            <a:ext cx="12192000" cy="11398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357687" y="233715"/>
            <a:ext cx="8988945" cy="800665"/>
          </a:xfrm>
          <a:noFill/>
        </p:spPr>
        <p:txBody>
          <a:bodyPr anchor="t"/>
          <a:lstStyle>
            <a:lvl1pPr algn="l">
              <a:defRPr sz="4000">
                <a:solidFill>
                  <a:srgbClr val="011F42"/>
                </a:solidFill>
              </a:defRPr>
            </a:lvl1pPr>
          </a:lstStyle>
          <a:p>
            <a:r>
              <a:rPr lang="en-US"/>
              <a:t>Click to edit Master title style</a:t>
            </a:r>
          </a:p>
        </p:txBody>
      </p:sp>
      <p:sp>
        <p:nvSpPr>
          <p:cNvPr id="3" name="Subtitle 2"/>
          <p:cNvSpPr>
            <a:spLocks noGrp="1"/>
          </p:cNvSpPr>
          <p:nvPr>
            <p:ph type="subTitle" idx="1"/>
          </p:nvPr>
        </p:nvSpPr>
        <p:spPr>
          <a:xfrm>
            <a:off x="357687" y="1204159"/>
            <a:ext cx="8988947" cy="550737"/>
          </a:xfrm>
        </p:spPr>
        <p:txBody>
          <a:bodyPr>
            <a:normAutofit/>
          </a:bodyPr>
          <a:lstStyle>
            <a:lvl1pPr marL="0" indent="0" algn="l">
              <a:buNone/>
              <a:defRPr sz="2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7" name="Text Placeholder 16"/>
          <p:cNvSpPr>
            <a:spLocks noGrp="1"/>
          </p:cNvSpPr>
          <p:nvPr>
            <p:ph type="body" sz="quarter" idx="12" hasCustomPrompt="1"/>
          </p:nvPr>
        </p:nvSpPr>
        <p:spPr>
          <a:xfrm>
            <a:off x="6535886" y="4665429"/>
            <a:ext cx="4396316" cy="1004888"/>
          </a:xfrm>
        </p:spPr>
        <p:txBody>
          <a:bodyPr>
            <a:normAutofit/>
          </a:bodyPr>
          <a:lstStyle>
            <a:lvl1pPr marL="0" indent="0">
              <a:buFontTx/>
              <a:buNone/>
              <a:defRPr sz="2400" b="1">
                <a:solidFill>
                  <a:schemeClr val="bg1"/>
                </a:solidFill>
              </a:defRPr>
            </a:lvl1pPr>
          </a:lstStyle>
          <a:p>
            <a:pPr lvl="0"/>
            <a:r>
              <a:rPr lang="en-US"/>
              <a:t>Click to add date and audience details</a:t>
            </a:r>
          </a:p>
        </p:txBody>
      </p:sp>
      <p:pic>
        <p:nvPicPr>
          <p:cNvPr id="6" name="Picture 5" descr="Text&#10;&#10;Description automatically generated with medium confidence">
            <a:extLst>
              <a:ext uri="{FF2B5EF4-FFF2-40B4-BE49-F238E27FC236}">
                <a16:creationId xmlns:a16="http://schemas.microsoft.com/office/drawing/2014/main" id="{50A6EBAF-57A7-C492-29D6-5C8F3F540E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556" y="5558340"/>
            <a:ext cx="4596938" cy="1147692"/>
          </a:xfrm>
          <a:prstGeom prst="rect">
            <a:avLst/>
          </a:prstGeom>
        </p:spPr>
      </p:pic>
      <p:pic>
        <p:nvPicPr>
          <p:cNvPr id="5" name="Picture 4">
            <a:extLst>
              <a:ext uri="{FF2B5EF4-FFF2-40B4-BE49-F238E27FC236}">
                <a16:creationId xmlns:a16="http://schemas.microsoft.com/office/drawing/2014/main" id="{E1D6A97E-4F76-D90F-4424-A8D19633DD5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1772484"/>
            <a:ext cx="4080160" cy="2719045"/>
          </a:xfrm>
          <a:prstGeom prst="rect">
            <a:avLst/>
          </a:prstGeom>
        </p:spPr>
      </p:pic>
      <p:pic>
        <p:nvPicPr>
          <p:cNvPr id="7" name="Picture 6">
            <a:extLst>
              <a:ext uri="{FF2B5EF4-FFF2-40B4-BE49-F238E27FC236}">
                <a16:creationId xmlns:a16="http://schemas.microsoft.com/office/drawing/2014/main" id="{2C948C21-FD51-A53E-6FA1-6A8CE21CC3B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497788" y="1772484"/>
            <a:ext cx="3196423" cy="2719045"/>
          </a:xfrm>
          <a:prstGeom prst="rect">
            <a:avLst/>
          </a:prstGeom>
        </p:spPr>
      </p:pic>
      <p:pic>
        <p:nvPicPr>
          <p:cNvPr id="8" name="Picture 7">
            <a:extLst>
              <a:ext uri="{FF2B5EF4-FFF2-40B4-BE49-F238E27FC236}">
                <a16:creationId xmlns:a16="http://schemas.microsoft.com/office/drawing/2014/main" id="{BB282BCE-122B-2DB8-08B0-AB752C8D68A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102379" y="1772484"/>
            <a:ext cx="4089621" cy="2719045"/>
          </a:xfrm>
          <a:prstGeom prst="rect">
            <a:avLst/>
          </a:prstGeom>
        </p:spPr>
      </p:pic>
    </p:spTree>
    <p:extLst>
      <p:ext uri="{BB962C8B-B14F-4D97-AF65-F5344CB8AC3E}">
        <p14:creationId xmlns:p14="http://schemas.microsoft.com/office/powerpoint/2010/main" val="61829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90295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492370"/>
            <a:ext cx="10515600" cy="46845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7A2E87-A46C-934D-BF14-0D8197FA24AF}" type="datetimeFigureOut">
              <a:rPr lang="en-US" smtClean="0"/>
              <a:t>4/14/2026</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D0795-8C29-784B-90CE-685C545E8C55}" type="slidenum">
              <a:rPr lang="en-US" smtClean="0"/>
              <a:t>‹#›</a:t>
            </a:fld>
            <a:endParaRPr lang="en-US"/>
          </a:p>
        </p:txBody>
      </p:sp>
      <p:sp>
        <p:nvSpPr>
          <p:cNvPr id="11" name="Rectangle 10">
            <a:extLst>
              <a:ext uri="{FF2B5EF4-FFF2-40B4-BE49-F238E27FC236}">
                <a16:creationId xmlns:a16="http://schemas.microsoft.com/office/drawing/2014/main" id="{E735CEC6-150A-B949-8016-B9C7FBE2634B}"/>
              </a:ext>
            </a:extLst>
          </p:cNvPr>
          <p:cNvSpPr/>
          <p:nvPr userDrawn="1"/>
        </p:nvSpPr>
        <p:spPr>
          <a:xfrm>
            <a:off x="4821548" y="6553349"/>
            <a:ext cx="2548903" cy="276999"/>
          </a:xfrm>
          <a:prstGeom prst="rect">
            <a:avLst/>
          </a:prstGeom>
        </p:spPr>
        <p:txBody>
          <a:bodyPr wrap="none">
            <a:spAutoFit/>
          </a:bodyPr>
          <a:lstStyle/>
          <a:p>
            <a:r>
              <a:rPr lang="en-US" sz="1200"/>
              <a:t>CT Department of Social Services</a:t>
            </a:r>
          </a:p>
        </p:txBody>
      </p:sp>
      <p:pic>
        <p:nvPicPr>
          <p:cNvPr id="12" name="Picture 11" descr="Text, email&#10;&#10;Description automatically generated">
            <a:extLst>
              <a:ext uri="{FF2B5EF4-FFF2-40B4-BE49-F238E27FC236}">
                <a16:creationId xmlns:a16="http://schemas.microsoft.com/office/drawing/2014/main" id="{A7C673B4-58DA-7142-9B91-9BB7991668FC}"/>
              </a:ext>
            </a:extLst>
          </p:cNvPr>
          <p:cNvPicPr>
            <a:picLocks noChangeAspect="1"/>
          </p:cNvPicPr>
          <p:nvPr userDrawn="1"/>
        </p:nvPicPr>
        <p:blipFill>
          <a:blip r:embed="rId15"/>
          <a:stretch>
            <a:fillRect/>
          </a:stretch>
        </p:blipFill>
        <p:spPr>
          <a:xfrm>
            <a:off x="-1" y="-16673"/>
            <a:ext cx="989789" cy="246861"/>
          </a:xfrm>
          <a:prstGeom prst="rect">
            <a:avLst/>
          </a:prstGeom>
          <a:ln>
            <a:noFill/>
          </a:ln>
          <a:effectLst/>
        </p:spPr>
      </p:pic>
      <p:pic>
        <p:nvPicPr>
          <p:cNvPr id="13" name="Picture 12">
            <a:extLst>
              <a:ext uri="{FF2B5EF4-FFF2-40B4-BE49-F238E27FC236}">
                <a16:creationId xmlns:a16="http://schemas.microsoft.com/office/drawing/2014/main" id="{0269B640-85AB-1C46-BDFD-AC0B7E9B90B3}"/>
              </a:ext>
            </a:extLst>
          </p:cNvPr>
          <p:cNvPicPr>
            <a:picLocks noChangeAspect="1"/>
          </p:cNvPicPr>
          <p:nvPr userDrawn="1"/>
        </p:nvPicPr>
        <p:blipFill>
          <a:blip r:embed="rId16"/>
          <a:stretch>
            <a:fillRect/>
          </a:stretch>
        </p:blipFill>
        <p:spPr>
          <a:xfrm>
            <a:off x="11430058" y="18749"/>
            <a:ext cx="761942" cy="422878"/>
          </a:xfrm>
          <a:prstGeom prst="rect">
            <a:avLst/>
          </a:prstGeom>
          <a:ln>
            <a:noFill/>
          </a:ln>
          <a:effectLst/>
        </p:spPr>
      </p:pic>
    </p:spTree>
    <p:extLst>
      <p:ext uri="{BB962C8B-B14F-4D97-AF65-F5344CB8AC3E}">
        <p14:creationId xmlns:p14="http://schemas.microsoft.com/office/powerpoint/2010/main" val="228043283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74000">
              <a:schemeClr val="bg1"/>
            </a:gs>
            <a:gs pos="83000">
              <a:schemeClr val="bg1"/>
            </a:gs>
            <a:gs pos="100000">
              <a:schemeClr val="bg1"/>
            </a:gs>
          </a:gsLst>
          <a:lin ang="5400000" scaled="1"/>
          <a:tileRect/>
        </a:gra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609600" y="939801"/>
            <a:ext cx="10972800" cy="5186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0AAB966D-B806-4904-954D-FA6BCF40EE68}" type="datetime4">
              <a:rPr lang="en-US" smtClean="0"/>
              <a:t>April 14,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r>
              <a:rPr lang="en-US"/>
              <a:t>Department of Social Services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3F14E114-112D-4C96-A0B4-2C41C19A598A}" type="slidenum">
              <a:rPr lang="en-US"/>
              <a:pPr>
                <a:defRPr/>
              </a:pPr>
              <a:t>‹#›</a:t>
            </a:fld>
            <a:endParaRPr lang="en-US"/>
          </a:p>
        </p:txBody>
      </p:sp>
      <p:sp>
        <p:nvSpPr>
          <p:cNvPr id="7" name="Rectangle 6"/>
          <p:cNvSpPr/>
          <p:nvPr userDrawn="1"/>
        </p:nvSpPr>
        <p:spPr>
          <a:xfrm>
            <a:off x="0" y="1"/>
            <a:ext cx="12192000" cy="798513"/>
          </a:xfrm>
          <a:prstGeom prst="rect">
            <a:avLst/>
          </a:prstGeom>
          <a:solidFill>
            <a:srgbClr val="01163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p>
        </p:txBody>
      </p:sp>
      <p:cxnSp>
        <p:nvCxnSpPr>
          <p:cNvPr id="10" name="Straight Connector 9"/>
          <p:cNvCxnSpPr>
            <a:cxnSpLocks/>
          </p:cNvCxnSpPr>
          <p:nvPr userDrawn="1"/>
        </p:nvCxnSpPr>
        <p:spPr>
          <a:xfrm>
            <a:off x="962108" y="639942"/>
            <a:ext cx="1105632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33" name="Title Placeholder 1"/>
          <p:cNvSpPr>
            <a:spLocks noGrp="1"/>
          </p:cNvSpPr>
          <p:nvPr>
            <p:ph type="title"/>
          </p:nvPr>
        </p:nvSpPr>
        <p:spPr bwMode="auto">
          <a:xfrm>
            <a:off x="4165601" y="41276"/>
            <a:ext cx="7852833" cy="5318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pic>
        <p:nvPicPr>
          <p:cNvPr id="3" name="Picture 2" descr="Text">
            <a:extLst>
              <a:ext uri="{FF2B5EF4-FFF2-40B4-BE49-F238E27FC236}">
                <a16:creationId xmlns:a16="http://schemas.microsoft.com/office/drawing/2014/main" id="{F5F65BA9-ED30-7A86-CA62-C6E42C1F334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37443" y="40432"/>
            <a:ext cx="2680324" cy="669182"/>
          </a:xfrm>
          <a:prstGeom prst="rect">
            <a:avLst/>
          </a:prstGeom>
        </p:spPr>
      </p:pic>
    </p:spTree>
    <p:extLst>
      <p:ext uri="{BB962C8B-B14F-4D97-AF65-F5344CB8AC3E}">
        <p14:creationId xmlns:p14="http://schemas.microsoft.com/office/powerpoint/2010/main" val="127596010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p:txStyles>
    <p:titleStyle>
      <a:lvl1pPr algn="l" rtl="0" fontAlgn="base">
        <a:spcBef>
          <a:spcPct val="0"/>
        </a:spcBef>
        <a:spcAft>
          <a:spcPct val="0"/>
        </a:spcAft>
        <a:defRPr sz="2800" kern="1200">
          <a:solidFill>
            <a:schemeClr val="bg1"/>
          </a:solidFill>
          <a:latin typeface="+mj-lt"/>
          <a:ea typeface="+mj-ea"/>
          <a:cs typeface="+mj-cs"/>
        </a:defRPr>
      </a:lvl1pPr>
      <a:lvl2pPr algn="l" rtl="0" fontAlgn="base">
        <a:spcBef>
          <a:spcPct val="0"/>
        </a:spcBef>
        <a:spcAft>
          <a:spcPct val="0"/>
        </a:spcAft>
        <a:defRPr sz="2800">
          <a:solidFill>
            <a:srgbClr val="FFFF00"/>
          </a:solidFill>
          <a:latin typeface="Calibri" pitchFamily="34" charset="0"/>
        </a:defRPr>
      </a:lvl2pPr>
      <a:lvl3pPr algn="l" rtl="0" fontAlgn="base">
        <a:spcBef>
          <a:spcPct val="0"/>
        </a:spcBef>
        <a:spcAft>
          <a:spcPct val="0"/>
        </a:spcAft>
        <a:defRPr sz="2800">
          <a:solidFill>
            <a:srgbClr val="FFFF00"/>
          </a:solidFill>
          <a:latin typeface="Calibri" pitchFamily="34" charset="0"/>
        </a:defRPr>
      </a:lvl3pPr>
      <a:lvl4pPr algn="l" rtl="0" fontAlgn="base">
        <a:spcBef>
          <a:spcPct val="0"/>
        </a:spcBef>
        <a:spcAft>
          <a:spcPct val="0"/>
        </a:spcAft>
        <a:defRPr sz="2800">
          <a:solidFill>
            <a:srgbClr val="FFFF00"/>
          </a:solidFill>
          <a:latin typeface="Calibri" pitchFamily="34" charset="0"/>
        </a:defRPr>
      </a:lvl4pPr>
      <a:lvl5pPr algn="l" rtl="0" fontAlgn="base">
        <a:spcBef>
          <a:spcPct val="0"/>
        </a:spcBef>
        <a:spcAft>
          <a:spcPct val="0"/>
        </a:spcAft>
        <a:defRPr sz="2800">
          <a:solidFill>
            <a:srgbClr val="FFFF00"/>
          </a:solidFill>
          <a:latin typeface="Calibri" pitchFamily="34" charset="0"/>
        </a:defRPr>
      </a:lvl5pPr>
      <a:lvl6pPr marL="457200" algn="l" rtl="0" fontAlgn="base">
        <a:spcBef>
          <a:spcPct val="0"/>
        </a:spcBef>
        <a:spcAft>
          <a:spcPct val="0"/>
        </a:spcAft>
        <a:defRPr sz="2800">
          <a:solidFill>
            <a:srgbClr val="FFFF00"/>
          </a:solidFill>
          <a:latin typeface="Calibri" pitchFamily="34" charset="0"/>
        </a:defRPr>
      </a:lvl6pPr>
      <a:lvl7pPr marL="914400" algn="l" rtl="0" fontAlgn="base">
        <a:spcBef>
          <a:spcPct val="0"/>
        </a:spcBef>
        <a:spcAft>
          <a:spcPct val="0"/>
        </a:spcAft>
        <a:defRPr sz="2800">
          <a:solidFill>
            <a:srgbClr val="FFFF00"/>
          </a:solidFill>
          <a:latin typeface="Calibri" pitchFamily="34" charset="0"/>
        </a:defRPr>
      </a:lvl7pPr>
      <a:lvl8pPr marL="1371600" algn="l" rtl="0" fontAlgn="base">
        <a:spcBef>
          <a:spcPct val="0"/>
        </a:spcBef>
        <a:spcAft>
          <a:spcPct val="0"/>
        </a:spcAft>
        <a:defRPr sz="2800">
          <a:solidFill>
            <a:srgbClr val="FFFF00"/>
          </a:solidFill>
          <a:latin typeface="Calibri" pitchFamily="34" charset="0"/>
        </a:defRPr>
      </a:lvl8pPr>
      <a:lvl9pPr marL="1828800" algn="l" rtl="0" fontAlgn="base">
        <a:spcBef>
          <a:spcPct val="0"/>
        </a:spcBef>
        <a:spcAft>
          <a:spcPct val="0"/>
        </a:spcAft>
        <a:defRPr sz="2800">
          <a:solidFill>
            <a:srgbClr val="FFFF00"/>
          </a:solidFill>
          <a:latin typeface="Calibri" pitchFamily="34" charset="0"/>
        </a:defRPr>
      </a:lvl9pPr>
    </p:titleStyle>
    <p:bodyStyle>
      <a:lvl1pPr marL="342900" indent="-342900" algn="l" rtl="0" fontAlgn="base">
        <a:spcBef>
          <a:spcPct val="20000"/>
        </a:spcBef>
        <a:spcAft>
          <a:spcPct val="0"/>
        </a:spcAft>
        <a:buFont typeface="Wingdings" pitchFamily="2" charset="2"/>
        <a:buChar char="§"/>
        <a:defRPr sz="2400" kern="1200">
          <a:solidFill>
            <a:srgbClr val="2906A2"/>
          </a:solidFill>
          <a:latin typeface="+mn-lt"/>
          <a:ea typeface="+mn-ea"/>
          <a:cs typeface="+mn-cs"/>
        </a:defRPr>
      </a:lvl1pPr>
      <a:lvl2pPr marL="742950" indent="-285750" algn="l" rtl="0" fontAlgn="base">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4.xml"/><Relationship Id="rId5" Type="http://schemas.openxmlformats.org/officeDocument/2006/relationships/image" Target="../media/image10.jpeg"/><Relationship Id="rId4" Type="http://schemas.openxmlformats.org/officeDocument/2006/relationships/image" Target="../media/image9.jpeg"/></Relationships>
</file>

<file path=ppt/slides/_rels/slide2.xml.rels><?xml version="1.0" encoding="UTF-8" standalone="yes"?>
<Relationships xmlns="http://schemas.openxmlformats.org/package/2006/relationships"><Relationship Id="rId3" Type="http://schemas.openxmlformats.org/officeDocument/2006/relationships/hyperlink" Target="https://arrowrbook.com/intro.html" TargetMode="External"/><Relationship Id="rId2" Type="http://schemas.openxmlformats.org/officeDocument/2006/relationships/hyperlink" Target="https://r4ds.hadley.nz/arrow.html" TargetMode="Externa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hyperlink" Target="https://arrowrbook.com/files_and_formats.html"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3E88A-5B5F-E94B-99EB-56B126978646}"/>
              </a:ext>
            </a:extLst>
          </p:cNvPr>
          <p:cNvSpPr>
            <a:spLocks noGrp="1"/>
          </p:cNvSpPr>
          <p:nvPr>
            <p:ph type="ctrTitle"/>
          </p:nvPr>
        </p:nvSpPr>
        <p:spPr>
          <a:xfrm>
            <a:off x="135466" y="1"/>
            <a:ext cx="12056533" cy="945062"/>
          </a:xfrm>
        </p:spPr>
        <p:txBody>
          <a:bodyPr/>
          <a:lstStyle/>
          <a:p>
            <a:pPr algn="ctr"/>
            <a:br>
              <a:rPr lang="en-US" sz="1400" dirty="0"/>
            </a:br>
            <a:endParaRPr lang="en-US" sz="2400" dirty="0"/>
          </a:p>
        </p:txBody>
      </p:sp>
      <p:sp>
        <p:nvSpPr>
          <p:cNvPr id="4" name="Text Placeholder 3">
            <a:extLst>
              <a:ext uri="{FF2B5EF4-FFF2-40B4-BE49-F238E27FC236}">
                <a16:creationId xmlns:a16="http://schemas.microsoft.com/office/drawing/2014/main" id="{76009FD3-2CE3-870A-EB1B-1C7F350A6E56}"/>
              </a:ext>
            </a:extLst>
          </p:cNvPr>
          <p:cNvSpPr>
            <a:spLocks noGrp="1"/>
          </p:cNvSpPr>
          <p:nvPr>
            <p:ph type="body" sz="quarter" idx="12"/>
          </p:nvPr>
        </p:nvSpPr>
        <p:spPr>
          <a:xfrm>
            <a:off x="7348998" y="5359776"/>
            <a:ext cx="4568021" cy="729416"/>
          </a:xfrm>
        </p:spPr>
        <p:txBody>
          <a:bodyPr>
            <a:normAutofit/>
          </a:bodyPr>
          <a:lstStyle/>
          <a:p>
            <a:pPr algn="ctr" eaLnBrk="0" hangingPunct="0"/>
            <a:r>
              <a:rPr lang="en-US" sz="4000" b="1" dirty="0">
                <a:latin typeface="Calibri" pitchFamily="34" charset="0"/>
              </a:rPr>
              <a:t>April 14, 2026</a:t>
            </a:r>
          </a:p>
          <a:p>
            <a:endParaRPr lang="en-US" dirty="0"/>
          </a:p>
        </p:txBody>
      </p:sp>
      <p:sp>
        <p:nvSpPr>
          <p:cNvPr id="3" name="Title 1">
            <a:extLst>
              <a:ext uri="{FF2B5EF4-FFF2-40B4-BE49-F238E27FC236}">
                <a16:creationId xmlns:a16="http://schemas.microsoft.com/office/drawing/2014/main" id="{1AC4D7B9-8E8C-818B-CA03-CF94D66B40EA}"/>
              </a:ext>
            </a:extLst>
          </p:cNvPr>
          <p:cNvSpPr txBox="1">
            <a:spLocks/>
          </p:cNvSpPr>
          <p:nvPr/>
        </p:nvSpPr>
        <p:spPr bwMode="auto">
          <a:xfrm>
            <a:off x="135467" y="170512"/>
            <a:ext cx="7046383" cy="7908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sz="4000" kern="1200">
                <a:solidFill>
                  <a:srgbClr val="011F42"/>
                </a:solidFill>
                <a:latin typeface="+mj-lt"/>
                <a:ea typeface="+mj-ea"/>
                <a:cs typeface="+mj-cs"/>
              </a:defRPr>
            </a:lvl1pPr>
            <a:lvl2pPr algn="l" rtl="0" fontAlgn="base">
              <a:spcBef>
                <a:spcPct val="0"/>
              </a:spcBef>
              <a:spcAft>
                <a:spcPct val="0"/>
              </a:spcAft>
              <a:defRPr sz="2800">
                <a:solidFill>
                  <a:srgbClr val="FFFF00"/>
                </a:solidFill>
                <a:latin typeface="Calibri" pitchFamily="34" charset="0"/>
              </a:defRPr>
            </a:lvl2pPr>
            <a:lvl3pPr algn="l" rtl="0" fontAlgn="base">
              <a:spcBef>
                <a:spcPct val="0"/>
              </a:spcBef>
              <a:spcAft>
                <a:spcPct val="0"/>
              </a:spcAft>
              <a:defRPr sz="2800">
                <a:solidFill>
                  <a:srgbClr val="FFFF00"/>
                </a:solidFill>
                <a:latin typeface="Calibri" pitchFamily="34" charset="0"/>
              </a:defRPr>
            </a:lvl3pPr>
            <a:lvl4pPr algn="l" rtl="0" fontAlgn="base">
              <a:spcBef>
                <a:spcPct val="0"/>
              </a:spcBef>
              <a:spcAft>
                <a:spcPct val="0"/>
              </a:spcAft>
              <a:defRPr sz="2800">
                <a:solidFill>
                  <a:srgbClr val="FFFF00"/>
                </a:solidFill>
                <a:latin typeface="Calibri" pitchFamily="34" charset="0"/>
              </a:defRPr>
            </a:lvl4pPr>
            <a:lvl5pPr algn="l" rtl="0" fontAlgn="base">
              <a:spcBef>
                <a:spcPct val="0"/>
              </a:spcBef>
              <a:spcAft>
                <a:spcPct val="0"/>
              </a:spcAft>
              <a:defRPr sz="2800">
                <a:solidFill>
                  <a:srgbClr val="FFFF00"/>
                </a:solidFill>
                <a:latin typeface="Calibri" pitchFamily="34" charset="0"/>
              </a:defRPr>
            </a:lvl5pPr>
            <a:lvl6pPr marL="457200" algn="l" rtl="0" fontAlgn="base">
              <a:spcBef>
                <a:spcPct val="0"/>
              </a:spcBef>
              <a:spcAft>
                <a:spcPct val="0"/>
              </a:spcAft>
              <a:defRPr sz="2800">
                <a:solidFill>
                  <a:srgbClr val="FFFF00"/>
                </a:solidFill>
                <a:latin typeface="Calibri" pitchFamily="34" charset="0"/>
              </a:defRPr>
            </a:lvl6pPr>
            <a:lvl7pPr marL="914400" algn="l" rtl="0" fontAlgn="base">
              <a:spcBef>
                <a:spcPct val="0"/>
              </a:spcBef>
              <a:spcAft>
                <a:spcPct val="0"/>
              </a:spcAft>
              <a:defRPr sz="2800">
                <a:solidFill>
                  <a:srgbClr val="FFFF00"/>
                </a:solidFill>
                <a:latin typeface="Calibri" pitchFamily="34" charset="0"/>
              </a:defRPr>
            </a:lvl7pPr>
            <a:lvl8pPr marL="1371600" algn="l" rtl="0" fontAlgn="base">
              <a:spcBef>
                <a:spcPct val="0"/>
              </a:spcBef>
              <a:spcAft>
                <a:spcPct val="0"/>
              </a:spcAft>
              <a:defRPr sz="2800">
                <a:solidFill>
                  <a:srgbClr val="FFFF00"/>
                </a:solidFill>
                <a:latin typeface="Calibri" pitchFamily="34" charset="0"/>
              </a:defRPr>
            </a:lvl8pPr>
            <a:lvl9pPr marL="1828800" algn="l" rtl="0" fontAlgn="base">
              <a:spcBef>
                <a:spcPct val="0"/>
              </a:spcBef>
              <a:spcAft>
                <a:spcPct val="0"/>
              </a:spcAft>
              <a:defRPr sz="2800">
                <a:solidFill>
                  <a:srgbClr val="FFFF00"/>
                </a:solidFill>
                <a:latin typeface="Calibri" pitchFamily="34" charset="0"/>
              </a:defRPr>
            </a:lvl9pPr>
          </a:lstStyle>
          <a:p>
            <a:pPr algn="ctr"/>
            <a:endParaRPr lang="en-US" sz="3600" b="1" dirty="0"/>
          </a:p>
        </p:txBody>
      </p:sp>
      <p:pic>
        <p:nvPicPr>
          <p:cNvPr id="7" name="Picture 6" descr="Man carrying girl">
            <a:extLst>
              <a:ext uri="{FF2B5EF4-FFF2-40B4-BE49-F238E27FC236}">
                <a16:creationId xmlns:a16="http://schemas.microsoft.com/office/drawing/2014/main" id="{7153F687-8BB2-557A-49C2-F644F8B1DA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727336"/>
            <a:ext cx="4141035" cy="2824786"/>
          </a:xfrm>
          <a:prstGeom prst="rect">
            <a:avLst/>
          </a:prstGeom>
        </p:spPr>
      </p:pic>
      <p:pic>
        <p:nvPicPr>
          <p:cNvPr id="9" name="Picture 8" descr="People with laughing baby">
            <a:extLst>
              <a:ext uri="{FF2B5EF4-FFF2-40B4-BE49-F238E27FC236}">
                <a16:creationId xmlns:a16="http://schemas.microsoft.com/office/drawing/2014/main" id="{F7524EA6-AF1C-43A0-8E27-7E3309631F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34323" y="1741134"/>
            <a:ext cx="3288381" cy="2810987"/>
          </a:xfrm>
          <a:prstGeom prst="rect">
            <a:avLst/>
          </a:prstGeom>
        </p:spPr>
      </p:pic>
      <p:pic>
        <p:nvPicPr>
          <p:cNvPr id="13" name="Picture 12" descr="Parents with children">
            <a:extLst>
              <a:ext uri="{FF2B5EF4-FFF2-40B4-BE49-F238E27FC236}">
                <a16:creationId xmlns:a16="http://schemas.microsoft.com/office/drawing/2014/main" id="{EC3FF666-F79A-E92D-69EB-1FE7B23DF02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0968" y="1741134"/>
            <a:ext cx="4093899" cy="2810986"/>
          </a:xfrm>
          <a:prstGeom prst="rect">
            <a:avLst/>
          </a:prstGeom>
        </p:spPr>
      </p:pic>
      <p:sp>
        <p:nvSpPr>
          <p:cNvPr id="5" name="Rectangle 88">
            <a:extLst>
              <a:ext uri="{FF2B5EF4-FFF2-40B4-BE49-F238E27FC236}">
                <a16:creationId xmlns:a16="http://schemas.microsoft.com/office/drawing/2014/main" id="{2DE3E6BA-3676-D0DD-E96E-35DE42129AAB}"/>
              </a:ext>
            </a:extLst>
          </p:cNvPr>
          <p:cNvSpPr>
            <a:spLocks noChangeArrowheads="1"/>
          </p:cNvSpPr>
          <p:nvPr/>
        </p:nvSpPr>
        <p:spPr bwMode="auto">
          <a:xfrm>
            <a:off x="-78658" y="-101378"/>
            <a:ext cx="12223525" cy="1107996"/>
          </a:xfrm>
          <a:prstGeom prst="rect">
            <a:avLst/>
          </a:prstGeom>
          <a:noFill/>
          <a:ln w="9525">
            <a:noFill/>
            <a:miter lim="800000"/>
            <a:headEnd/>
            <a:tailEnd/>
          </a:ln>
        </p:spPr>
        <p:txBody>
          <a:bodyPr wrap="square" lIns="0" tIns="0" rIns="0" bIns="0">
            <a:spAutoFit/>
          </a:bodyPr>
          <a:lstStyle/>
          <a:p>
            <a:pPr algn="ctr" eaLnBrk="0" hangingPunct="0"/>
            <a:r>
              <a:rPr lang="en-US" sz="3600" b="1" dirty="0">
                <a:solidFill>
                  <a:srgbClr val="002060"/>
                </a:solidFill>
                <a:latin typeface="Calibri" pitchFamily="34" charset="0"/>
              </a:rPr>
              <a:t>R Users Group</a:t>
            </a:r>
          </a:p>
          <a:p>
            <a:pPr algn="ctr" eaLnBrk="0" hangingPunct="0"/>
            <a:r>
              <a:rPr lang="en-US" sz="3600" b="1" dirty="0">
                <a:solidFill>
                  <a:srgbClr val="002060"/>
                </a:solidFill>
                <a:latin typeface="Calibri" pitchFamily="34" charset="0"/>
              </a:rPr>
              <a:t>Putting Another arrow() in your R quiver </a:t>
            </a:r>
          </a:p>
        </p:txBody>
      </p:sp>
    </p:spTree>
    <p:extLst>
      <p:ext uri="{BB962C8B-B14F-4D97-AF65-F5344CB8AC3E}">
        <p14:creationId xmlns:p14="http://schemas.microsoft.com/office/powerpoint/2010/main" val="3560534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450A6-FD1D-CE2A-BD97-583F18FEE4EA}"/>
              </a:ext>
            </a:extLst>
          </p:cNvPr>
          <p:cNvSpPr>
            <a:spLocks noGrp="1"/>
          </p:cNvSpPr>
          <p:nvPr>
            <p:ph type="title"/>
          </p:nvPr>
        </p:nvSpPr>
        <p:spPr/>
        <p:txBody>
          <a:bodyPr/>
          <a:lstStyle/>
          <a:p>
            <a:r>
              <a:rPr lang="en-US" dirty="0"/>
              <a:t>Background and Scenario</a:t>
            </a:r>
          </a:p>
        </p:txBody>
      </p:sp>
      <p:sp>
        <p:nvSpPr>
          <p:cNvPr id="3" name="Content Placeholder 2">
            <a:extLst>
              <a:ext uri="{FF2B5EF4-FFF2-40B4-BE49-F238E27FC236}">
                <a16:creationId xmlns:a16="http://schemas.microsoft.com/office/drawing/2014/main" id="{EB26A2AF-38C6-0F75-87DF-EB08C46662BE}"/>
              </a:ext>
            </a:extLst>
          </p:cNvPr>
          <p:cNvSpPr>
            <a:spLocks noGrp="1"/>
          </p:cNvSpPr>
          <p:nvPr>
            <p:ph idx="1"/>
          </p:nvPr>
        </p:nvSpPr>
        <p:spPr/>
        <p:txBody>
          <a:bodyPr/>
          <a:lstStyle/>
          <a:p>
            <a:r>
              <a:rPr lang="en-US" dirty="0"/>
              <a:t>Imagine that you have accumulated a “lot” of data!  </a:t>
            </a:r>
          </a:p>
          <a:p>
            <a:pPr lvl="1"/>
            <a:r>
              <a:rPr lang="en-US" dirty="0"/>
              <a:t>R is as efficient and performant as it can be with the amount of memory you give it.  Technically there is no limitation to how many rows and columns you can give it to process.</a:t>
            </a:r>
          </a:p>
          <a:p>
            <a:pPr lvl="1"/>
            <a:r>
              <a:rPr lang="en-US" dirty="0"/>
              <a:t>Except one!  It can not use more memory than you have available on your machine, and we all like to use our machines for more than one thing don’t we?</a:t>
            </a:r>
          </a:p>
          <a:p>
            <a:r>
              <a:rPr lang="en-US" dirty="0"/>
              <a:t>Enter Arrow, Parquet, and perhaps even </a:t>
            </a:r>
            <a:r>
              <a:rPr lang="en-US" dirty="0" err="1"/>
              <a:t>DuckDB</a:t>
            </a:r>
            <a:r>
              <a:rPr lang="en-US" dirty="0"/>
              <a:t> to help you solve the problem!</a:t>
            </a:r>
          </a:p>
          <a:p>
            <a:r>
              <a:rPr lang="en-US" dirty="0"/>
              <a:t>Total cost to you and the organization… $0 but of course there’s always the cost of you learning.  Happily, even the books and examples are free. </a:t>
            </a:r>
          </a:p>
          <a:p>
            <a:r>
              <a:rPr lang="en-US" dirty="0">
                <a:hlinkClick r:id="rId2"/>
              </a:rPr>
              <a:t>22  Arrow – R for Data Science (2e)</a:t>
            </a:r>
            <a:endParaRPr lang="en-US" dirty="0"/>
          </a:p>
          <a:p>
            <a:r>
              <a:rPr lang="en-US" dirty="0">
                <a:hlinkClick r:id="rId3"/>
              </a:rPr>
              <a:t>1  Introduction – Scaling Up With R and Arrow</a:t>
            </a:r>
            <a:endParaRPr lang="en-US" dirty="0"/>
          </a:p>
        </p:txBody>
      </p:sp>
      <p:sp>
        <p:nvSpPr>
          <p:cNvPr id="4" name="Date Placeholder 3">
            <a:extLst>
              <a:ext uri="{FF2B5EF4-FFF2-40B4-BE49-F238E27FC236}">
                <a16:creationId xmlns:a16="http://schemas.microsoft.com/office/drawing/2014/main" id="{9E8AD397-F478-3BAC-BC86-E0F860C2EB38}"/>
              </a:ext>
            </a:extLst>
          </p:cNvPr>
          <p:cNvSpPr>
            <a:spLocks noGrp="1"/>
          </p:cNvSpPr>
          <p:nvPr>
            <p:ph type="dt" sz="half" idx="10"/>
          </p:nvPr>
        </p:nvSpPr>
        <p:spPr/>
        <p:txBody>
          <a:bodyPr/>
          <a:lstStyle/>
          <a:p>
            <a:pPr>
              <a:defRPr/>
            </a:pPr>
            <a:fld id="{572706B9-38B8-4195-9B82-4797676D40AF}" type="datetime4">
              <a:rPr lang="en-US" smtClean="0"/>
              <a:t>April 14, 2026</a:t>
            </a:fld>
            <a:endParaRPr lang="en-US" dirty="0"/>
          </a:p>
        </p:txBody>
      </p:sp>
      <p:sp>
        <p:nvSpPr>
          <p:cNvPr id="5" name="Footer Placeholder 4">
            <a:extLst>
              <a:ext uri="{FF2B5EF4-FFF2-40B4-BE49-F238E27FC236}">
                <a16:creationId xmlns:a16="http://schemas.microsoft.com/office/drawing/2014/main" id="{19DFF76C-94ED-C9C1-5532-7901F8787200}"/>
              </a:ext>
            </a:extLst>
          </p:cNvPr>
          <p:cNvSpPr>
            <a:spLocks noGrp="1"/>
          </p:cNvSpPr>
          <p:nvPr>
            <p:ph type="ftr" sz="quarter" idx="11"/>
          </p:nvPr>
        </p:nvSpPr>
        <p:spPr/>
        <p:txBody>
          <a:bodyPr/>
          <a:lstStyle/>
          <a:p>
            <a:pPr>
              <a:defRPr/>
            </a:pPr>
            <a:r>
              <a:rPr lang="en-US"/>
              <a:t>Department of Social Services</a:t>
            </a:r>
          </a:p>
        </p:txBody>
      </p:sp>
      <p:sp>
        <p:nvSpPr>
          <p:cNvPr id="6" name="Slide Number Placeholder 5">
            <a:extLst>
              <a:ext uri="{FF2B5EF4-FFF2-40B4-BE49-F238E27FC236}">
                <a16:creationId xmlns:a16="http://schemas.microsoft.com/office/drawing/2014/main" id="{847F4BE5-0480-9CD1-5774-8F47DECC31B3}"/>
              </a:ext>
            </a:extLst>
          </p:cNvPr>
          <p:cNvSpPr>
            <a:spLocks noGrp="1"/>
          </p:cNvSpPr>
          <p:nvPr>
            <p:ph type="sldNum" sz="quarter" idx="12"/>
          </p:nvPr>
        </p:nvSpPr>
        <p:spPr/>
        <p:txBody>
          <a:bodyPr/>
          <a:lstStyle/>
          <a:p>
            <a:pPr>
              <a:defRPr/>
            </a:pPr>
            <a:fld id="{8E0910F7-5D48-4D29-89D1-83725AECF732}" type="slidenum">
              <a:rPr lang="en-US" smtClean="0"/>
              <a:pPr>
                <a:defRPr/>
              </a:pPr>
              <a:t>2</a:t>
            </a:fld>
            <a:endParaRPr lang="en-US"/>
          </a:p>
        </p:txBody>
      </p:sp>
    </p:spTree>
    <p:extLst>
      <p:ext uri="{BB962C8B-B14F-4D97-AF65-F5344CB8AC3E}">
        <p14:creationId xmlns:p14="http://schemas.microsoft.com/office/powerpoint/2010/main" val="1256261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F38A-A998-26FC-8376-37C95FA02FC7}"/>
              </a:ext>
            </a:extLst>
          </p:cNvPr>
          <p:cNvSpPr>
            <a:spLocks noGrp="1"/>
          </p:cNvSpPr>
          <p:nvPr>
            <p:ph type="title"/>
          </p:nvPr>
        </p:nvSpPr>
        <p:spPr/>
        <p:txBody>
          <a:bodyPr/>
          <a:lstStyle/>
          <a:p>
            <a:r>
              <a:rPr lang="en-US" dirty="0"/>
              <a:t>Our Use Case for today</a:t>
            </a:r>
          </a:p>
        </p:txBody>
      </p:sp>
      <p:sp>
        <p:nvSpPr>
          <p:cNvPr id="3" name="Content Placeholder 2">
            <a:extLst>
              <a:ext uri="{FF2B5EF4-FFF2-40B4-BE49-F238E27FC236}">
                <a16:creationId xmlns:a16="http://schemas.microsoft.com/office/drawing/2014/main" id="{1B176984-E870-220A-98F6-C7FC590035F8}"/>
              </a:ext>
            </a:extLst>
          </p:cNvPr>
          <p:cNvSpPr>
            <a:spLocks noGrp="1"/>
          </p:cNvSpPr>
          <p:nvPr>
            <p:ph idx="1"/>
          </p:nvPr>
        </p:nvSpPr>
        <p:spPr/>
        <p:txBody>
          <a:bodyPr/>
          <a:lstStyle/>
          <a:p>
            <a:r>
              <a:rPr lang="en-US" dirty="0"/>
              <a:t>The </a:t>
            </a:r>
            <a:r>
              <a:rPr lang="en-US" b="1" dirty="0"/>
              <a:t>arrow</a:t>
            </a:r>
            <a:r>
              <a:rPr lang="en-US" dirty="0"/>
              <a:t> R package gives you IMHO an ideal solution. It allows you to work with larger-than-memory data directly from R without needing to set up additional infrastructure. It implements the </a:t>
            </a:r>
            <a:r>
              <a:rPr lang="en-US" dirty="0" err="1"/>
              <a:t>tidyverse</a:t>
            </a:r>
            <a:r>
              <a:rPr lang="en-US" dirty="0"/>
              <a:t> API, which means that if you are familiar with </a:t>
            </a:r>
            <a:r>
              <a:rPr lang="en-US" dirty="0" err="1"/>
              <a:t>tidyverse</a:t>
            </a:r>
            <a:r>
              <a:rPr lang="en-US" dirty="0"/>
              <a:t> functions, you can use those same functions with arrow and don’t have to learn a whole new framework.</a:t>
            </a:r>
          </a:p>
          <a:p>
            <a:r>
              <a:rPr lang="en-US" dirty="0"/>
              <a:t>Using arrow, you can work directly with files in formats such as CSV and </a:t>
            </a:r>
            <a:r>
              <a:rPr lang="en-US" b="1" dirty="0"/>
              <a:t>Parquet</a:t>
            </a:r>
            <a:r>
              <a:rPr lang="en-US" dirty="0"/>
              <a:t>—a format optimized for reducing the size of files and doing fast data analysis, which we’ll discuss in </a:t>
            </a:r>
            <a:r>
              <a:rPr lang="en-US" u="sng" dirty="0">
                <a:hlinkClick r:id="rId2"/>
              </a:rPr>
              <a:t>Chapter 4</a:t>
            </a:r>
            <a:r>
              <a:rPr lang="en-US" dirty="0"/>
              <a:t>—without having to export this data into a different format first. Just point at a directory of files, write </a:t>
            </a:r>
            <a:r>
              <a:rPr lang="en-US" dirty="0" err="1"/>
              <a:t>tidyverse</a:t>
            </a:r>
            <a:r>
              <a:rPr lang="en-US" dirty="0"/>
              <a:t> code against it, and when it runs, it scans through the data in chunks, doing computations without having to ever hold the whole dataset in memory at once.</a:t>
            </a:r>
          </a:p>
          <a:p>
            <a:pPr marL="0" indent="0">
              <a:buNone/>
            </a:pPr>
            <a:endParaRPr lang="en-US" dirty="0"/>
          </a:p>
        </p:txBody>
      </p:sp>
      <p:sp>
        <p:nvSpPr>
          <p:cNvPr id="4" name="Date Placeholder 3">
            <a:extLst>
              <a:ext uri="{FF2B5EF4-FFF2-40B4-BE49-F238E27FC236}">
                <a16:creationId xmlns:a16="http://schemas.microsoft.com/office/drawing/2014/main" id="{BDD92BE9-F19A-8036-DCC4-F70D77BE4D1F}"/>
              </a:ext>
            </a:extLst>
          </p:cNvPr>
          <p:cNvSpPr>
            <a:spLocks noGrp="1"/>
          </p:cNvSpPr>
          <p:nvPr>
            <p:ph type="dt" sz="half" idx="10"/>
          </p:nvPr>
        </p:nvSpPr>
        <p:spPr/>
        <p:txBody>
          <a:bodyPr/>
          <a:lstStyle/>
          <a:p>
            <a:pPr>
              <a:defRPr/>
            </a:pPr>
            <a:fld id="{572706B9-38B8-4195-9B82-4797676D40AF}" type="datetime4">
              <a:rPr lang="en-US" smtClean="0"/>
              <a:t>April 14, 2026</a:t>
            </a:fld>
            <a:endParaRPr lang="en-US"/>
          </a:p>
        </p:txBody>
      </p:sp>
      <p:sp>
        <p:nvSpPr>
          <p:cNvPr id="5" name="Footer Placeholder 4">
            <a:extLst>
              <a:ext uri="{FF2B5EF4-FFF2-40B4-BE49-F238E27FC236}">
                <a16:creationId xmlns:a16="http://schemas.microsoft.com/office/drawing/2014/main" id="{EEE87EAA-4D4B-FC46-11B4-C5DA29B68EE6}"/>
              </a:ext>
            </a:extLst>
          </p:cNvPr>
          <p:cNvSpPr>
            <a:spLocks noGrp="1"/>
          </p:cNvSpPr>
          <p:nvPr>
            <p:ph type="ftr" sz="quarter" idx="11"/>
          </p:nvPr>
        </p:nvSpPr>
        <p:spPr/>
        <p:txBody>
          <a:bodyPr/>
          <a:lstStyle/>
          <a:p>
            <a:pPr>
              <a:defRPr/>
            </a:pPr>
            <a:r>
              <a:rPr lang="en-US"/>
              <a:t>Department of Social Services</a:t>
            </a:r>
          </a:p>
        </p:txBody>
      </p:sp>
      <p:sp>
        <p:nvSpPr>
          <p:cNvPr id="6" name="Slide Number Placeholder 5">
            <a:extLst>
              <a:ext uri="{FF2B5EF4-FFF2-40B4-BE49-F238E27FC236}">
                <a16:creationId xmlns:a16="http://schemas.microsoft.com/office/drawing/2014/main" id="{B4BA569E-3173-13B3-3C01-CECD614290A7}"/>
              </a:ext>
            </a:extLst>
          </p:cNvPr>
          <p:cNvSpPr>
            <a:spLocks noGrp="1"/>
          </p:cNvSpPr>
          <p:nvPr>
            <p:ph type="sldNum" sz="quarter" idx="12"/>
          </p:nvPr>
        </p:nvSpPr>
        <p:spPr/>
        <p:txBody>
          <a:bodyPr/>
          <a:lstStyle/>
          <a:p>
            <a:pPr>
              <a:defRPr/>
            </a:pPr>
            <a:fld id="{8E0910F7-5D48-4D29-89D1-83725AECF732}" type="slidenum">
              <a:rPr lang="en-US" smtClean="0"/>
              <a:pPr>
                <a:defRPr/>
              </a:pPr>
              <a:t>3</a:t>
            </a:fld>
            <a:endParaRPr lang="en-US"/>
          </a:p>
        </p:txBody>
      </p:sp>
    </p:spTree>
    <p:extLst>
      <p:ext uri="{BB962C8B-B14F-4D97-AF65-F5344CB8AC3E}">
        <p14:creationId xmlns:p14="http://schemas.microsoft.com/office/powerpoint/2010/main" val="3071341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D071A-3B7B-1ABC-25EA-F6F85E15528A}"/>
              </a:ext>
            </a:extLst>
          </p:cNvPr>
          <p:cNvSpPr>
            <a:spLocks noGrp="1"/>
          </p:cNvSpPr>
          <p:nvPr>
            <p:ph type="title"/>
          </p:nvPr>
        </p:nvSpPr>
        <p:spPr/>
        <p:txBody>
          <a:bodyPr/>
          <a:lstStyle/>
          <a:p>
            <a:r>
              <a:rPr lang="en-US" dirty="0"/>
              <a:t>Fair warning</a:t>
            </a:r>
          </a:p>
        </p:txBody>
      </p:sp>
      <p:sp>
        <p:nvSpPr>
          <p:cNvPr id="3" name="Content Placeholder 2">
            <a:extLst>
              <a:ext uri="{FF2B5EF4-FFF2-40B4-BE49-F238E27FC236}">
                <a16:creationId xmlns:a16="http://schemas.microsoft.com/office/drawing/2014/main" id="{028AB3F2-E12A-2D3C-679E-206490DE97F6}"/>
              </a:ext>
            </a:extLst>
          </p:cNvPr>
          <p:cNvSpPr>
            <a:spLocks noGrp="1"/>
          </p:cNvSpPr>
          <p:nvPr>
            <p:ph idx="1"/>
          </p:nvPr>
        </p:nvSpPr>
        <p:spPr/>
        <p:txBody>
          <a:bodyPr/>
          <a:lstStyle/>
          <a:p>
            <a:r>
              <a:rPr lang="en-US" dirty="0"/>
              <a:t>This is relatively advanced stuff and probably not worth your time to learn for small data.</a:t>
            </a:r>
          </a:p>
          <a:p>
            <a:r>
              <a:rPr lang="en-US" dirty="0"/>
              <a:t>There are mind boggling tricks you can do, but I’m only going to scratch the surface.</a:t>
            </a:r>
          </a:p>
          <a:p>
            <a:r>
              <a:rPr lang="en-US" dirty="0"/>
              <a:t>When the data grows larger the value of using arrow and parquet in making you productive and efficient grows exponentially.  Sometimes it is literally the only ready solution! </a:t>
            </a:r>
          </a:p>
          <a:p>
            <a:r>
              <a:rPr lang="en-US" dirty="0"/>
              <a:t>Let me give you a taste of why from an example you can play with yourself as well as my real life experiences.</a:t>
            </a:r>
          </a:p>
        </p:txBody>
      </p:sp>
      <p:sp>
        <p:nvSpPr>
          <p:cNvPr id="4" name="Date Placeholder 3">
            <a:extLst>
              <a:ext uri="{FF2B5EF4-FFF2-40B4-BE49-F238E27FC236}">
                <a16:creationId xmlns:a16="http://schemas.microsoft.com/office/drawing/2014/main" id="{3F3B8381-41E0-FBD4-AFCA-FAA421C9365B}"/>
              </a:ext>
            </a:extLst>
          </p:cNvPr>
          <p:cNvSpPr>
            <a:spLocks noGrp="1"/>
          </p:cNvSpPr>
          <p:nvPr>
            <p:ph type="dt" sz="half" idx="10"/>
          </p:nvPr>
        </p:nvSpPr>
        <p:spPr/>
        <p:txBody>
          <a:bodyPr/>
          <a:lstStyle/>
          <a:p>
            <a:pPr>
              <a:defRPr/>
            </a:pPr>
            <a:fld id="{572706B9-38B8-4195-9B82-4797676D40AF}" type="datetime4">
              <a:rPr lang="en-US" smtClean="0"/>
              <a:t>April 14, 2026</a:t>
            </a:fld>
            <a:endParaRPr lang="en-US"/>
          </a:p>
        </p:txBody>
      </p:sp>
      <p:sp>
        <p:nvSpPr>
          <p:cNvPr id="5" name="Footer Placeholder 4">
            <a:extLst>
              <a:ext uri="{FF2B5EF4-FFF2-40B4-BE49-F238E27FC236}">
                <a16:creationId xmlns:a16="http://schemas.microsoft.com/office/drawing/2014/main" id="{F3A42B16-6868-5DD0-F5E0-BA736DFBE1E0}"/>
              </a:ext>
            </a:extLst>
          </p:cNvPr>
          <p:cNvSpPr>
            <a:spLocks noGrp="1"/>
          </p:cNvSpPr>
          <p:nvPr>
            <p:ph type="ftr" sz="quarter" idx="11"/>
          </p:nvPr>
        </p:nvSpPr>
        <p:spPr/>
        <p:txBody>
          <a:bodyPr/>
          <a:lstStyle/>
          <a:p>
            <a:pPr>
              <a:defRPr/>
            </a:pPr>
            <a:r>
              <a:rPr lang="en-US"/>
              <a:t>Department of Social Services</a:t>
            </a:r>
          </a:p>
        </p:txBody>
      </p:sp>
      <p:sp>
        <p:nvSpPr>
          <p:cNvPr id="6" name="Slide Number Placeholder 5">
            <a:extLst>
              <a:ext uri="{FF2B5EF4-FFF2-40B4-BE49-F238E27FC236}">
                <a16:creationId xmlns:a16="http://schemas.microsoft.com/office/drawing/2014/main" id="{83C1BA0C-8F57-B9E1-6C20-270444652658}"/>
              </a:ext>
            </a:extLst>
          </p:cNvPr>
          <p:cNvSpPr>
            <a:spLocks noGrp="1"/>
          </p:cNvSpPr>
          <p:nvPr>
            <p:ph type="sldNum" sz="quarter" idx="12"/>
          </p:nvPr>
        </p:nvSpPr>
        <p:spPr/>
        <p:txBody>
          <a:bodyPr/>
          <a:lstStyle/>
          <a:p>
            <a:pPr>
              <a:defRPr/>
            </a:pPr>
            <a:fld id="{8E0910F7-5D48-4D29-89D1-83725AECF732}" type="slidenum">
              <a:rPr lang="en-US" smtClean="0"/>
              <a:pPr>
                <a:defRPr/>
              </a:pPr>
              <a:t>4</a:t>
            </a:fld>
            <a:endParaRPr lang="en-US"/>
          </a:p>
        </p:txBody>
      </p:sp>
    </p:spTree>
    <p:extLst>
      <p:ext uri="{BB962C8B-B14F-4D97-AF65-F5344CB8AC3E}">
        <p14:creationId xmlns:p14="http://schemas.microsoft.com/office/powerpoint/2010/main" val="4143896431"/>
      </p:ext>
    </p:extLst>
  </p:cSld>
  <p:clrMapOvr>
    <a:masterClrMapping/>
  </p:clrMapOvr>
</p:sld>
</file>

<file path=ppt/theme/theme1.xml><?xml version="1.0" encoding="utf-8"?>
<a:theme xmlns:a="http://schemas.openxmlformats.org/drawingml/2006/main" name="Office Theme">
  <a:themeElements>
    <a:clrScheme name="Gui Custom">
      <a:dk1>
        <a:sysClr val="windowText" lastClr="000000"/>
      </a:dk1>
      <a:lt1>
        <a:sysClr val="window" lastClr="FFFFFF"/>
      </a:lt1>
      <a:dk2>
        <a:srgbClr val="44546A"/>
      </a:dk2>
      <a:lt2>
        <a:srgbClr val="E7E6E6"/>
      </a:lt2>
      <a:accent1>
        <a:srgbClr val="2906A2"/>
      </a:accent1>
      <a:accent2>
        <a:srgbClr val="D6CBFD"/>
      </a:accent2>
      <a:accent3>
        <a:srgbClr val="266A2E"/>
      </a:accent3>
      <a:accent4>
        <a:srgbClr val="A5DFAC"/>
      </a:accent4>
      <a:accent5>
        <a:srgbClr val="7F7F7F"/>
      </a:accent5>
      <a:accent6>
        <a:srgbClr val="CDCDCD"/>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4" id="{DF2F0EB7-A5B1-4D43-A55E-2B38889098A0}" vid="{456332E8-BFB3-44D9-8936-B3CD0A25DE75}"/>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85CF2ACFC35842B7F6607C279E00D2" ma:contentTypeVersion="14" ma:contentTypeDescription="Create a new document." ma:contentTypeScope="" ma:versionID="b262a615595a3ddb1241f554f5927032">
  <xsd:schema xmlns:xsd="http://www.w3.org/2001/XMLSchema" xmlns:xs="http://www.w3.org/2001/XMLSchema" xmlns:p="http://schemas.microsoft.com/office/2006/metadata/properties" xmlns:ns3="6793fdbd-6b64-432d-b2fa-f99a797eaab7" xmlns:ns4="74b1370e-1763-47ad-97cc-61f163e2f43b" targetNamespace="http://schemas.microsoft.com/office/2006/metadata/properties" ma:root="true" ma:fieldsID="0df8a6aeecc34772e8362e20377fe9ac" ns3:_="" ns4:_="">
    <xsd:import namespace="6793fdbd-6b64-432d-b2fa-f99a797eaab7"/>
    <xsd:import namespace="74b1370e-1763-47ad-97cc-61f163e2f4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_activity" minOccurs="0"/>
                <xsd:element ref="ns3:MediaServiceGenerationTime" minOccurs="0"/>
                <xsd:element ref="ns3:MediaServiceEventHashCode" minOccurs="0"/>
                <xsd:element ref="ns3:MediaServiceObjectDetectorVersions"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3fdbd-6b64-432d-b2fa-f99a797ea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4b1370e-1763-47ad-97cc-61f163e2f4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793fdbd-6b64-432d-b2fa-f99a797eaab7" xsi:nil="true"/>
  </documentManagement>
</p:properties>
</file>

<file path=customXml/itemProps1.xml><?xml version="1.0" encoding="utf-8"?>
<ds:datastoreItem xmlns:ds="http://schemas.openxmlformats.org/officeDocument/2006/customXml" ds:itemID="{A83FCDE0-5149-4D02-84CB-D83DB969FD30}">
  <ds:schemaRefs>
    <ds:schemaRef ds:uri="http://schemas.microsoft.com/sharepoint/v3/contenttype/forms"/>
  </ds:schemaRefs>
</ds:datastoreItem>
</file>

<file path=customXml/itemProps2.xml><?xml version="1.0" encoding="utf-8"?>
<ds:datastoreItem xmlns:ds="http://schemas.openxmlformats.org/officeDocument/2006/customXml" ds:itemID="{CF691BBE-7CEA-4C68-A948-E4545126C9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3fdbd-6b64-432d-b2fa-f99a797eaab7"/>
    <ds:schemaRef ds:uri="74b1370e-1763-47ad-97cc-61f163e2f4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800557-2AE3-436D-A7B6-DA0CE01FE188}">
  <ds:schemaRefs>
    <ds:schemaRef ds:uri="http://purl.org/dc/terms/"/>
    <ds:schemaRef ds:uri="http://purl.org/dc/elements/1.1/"/>
    <ds:schemaRef ds:uri="http://schemas.microsoft.com/office/2006/documentManagement/types"/>
    <ds:schemaRef ds:uri="http://purl.org/dc/dcmitype/"/>
    <ds:schemaRef ds:uri="http://schemas.microsoft.com/office/2006/metadata/properties"/>
    <ds:schemaRef ds:uri="http://www.w3.org/XML/1998/namespace"/>
    <ds:schemaRef ds:uri="http://schemas.openxmlformats.org/package/2006/metadata/core-properties"/>
    <ds:schemaRef ds:uri="6793fdbd-6b64-432d-b2fa-f99a797eaab7"/>
    <ds:schemaRef ds:uri="http://schemas.microsoft.com/office/infopath/2007/PartnerControls"/>
    <ds:schemaRef ds:uri="74b1370e-1763-47ad-97cc-61f163e2f43b"/>
  </ds:schemaRefs>
</ds:datastoreItem>
</file>

<file path=docProps/app.xml><?xml version="1.0" encoding="utf-8"?>
<Properties xmlns="http://schemas.openxmlformats.org/officeDocument/2006/extended-properties" xmlns:vt="http://schemas.openxmlformats.org/officeDocument/2006/docPropsVTypes">
  <Template/>
  <TotalTime>2795</TotalTime>
  <Words>440</Words>
  <Application>Microsoft Office PowerPoint</Application>
  <PresentationFormat>Widescreen</PresentationFormat>
  <Paragraphs>30</Paragraphs>
  <Slides>4</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Calibri</vt:lpstr>
      <vt:lpstr>Rockwell</vt:lpstr>
      <vt:lpstr>Tw Cen MT</vt:lpstr>
      <vt:lpstr>Wingdings</vt:lpstr>
      <vt:lpstr>Office Theme</vt:lpstr>
      <vt:lpstr>2_Office Theme</vt:lpstr>
      <vt:lpstr> </vt:lpstr>
      <vt:lpstr>Background and Scenario</vt:lpstr>
      <vt:lpstr>Our Use Case for today</vt:lpstr>
      <vt:lpstr>Fair warning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Linette.Pisani@ct.gov</dc:creator>
  <cp:lastModifiedBy>Powell, Charles</cp:lastModifiedBy>
  <cp:revision>55</cp:revision>
  <dcterms:created xsi:type="dcterms:W3CDTF">2020-02-20T13:56:42Z</dcterms:created>
  <dcterms:modified xsi:type="dcterms:W3CDTF">2026-04-14T14:52:52Z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0x0101005C85CF2ACFC35842B7F6607C279E00D2</vt:lpwstr>
  </property>
</Properties>
</file>